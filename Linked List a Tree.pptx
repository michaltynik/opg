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7" r:id="rId6"/>
    <p:sldId id="259" r:id="rId7"/>
    <p:sldId id="261" r:id="rId8"/>
    <p:sldId id="266" r:id="rId9"/>
    <p:sldId id="262" r:id="rId10"/>
    <p:sldId id="263" r:id="rId11"/>
    <p:sldId id="268" r:id="rId12"/>
    <p:sldId id="264" r:id="rId13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Upravte štýl predlohy podnadpisov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0188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0945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9831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6798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symbol dátum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8" name="Zástupný symbol päty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symbol čísla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37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dátum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4" name="Zástupný symbol päty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symbol čísla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65521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dátum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3" name="Zástupný symbol päty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1362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68346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Zástupný symbol dátum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3695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2199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763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nadpi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symbol dátum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E36FB-591A-4E54-B454-0DD30B9B0D01}" type="datetimeFigureOut">
              <a:rPr lang="sk-SK" smtClean="0"/>
              <a:t>13. 1. 2025</a:t>
            </a:fld>
            <a:endParaRPr lang="sk-SK"/>
          </a:p>
        </p:txBody>
      </p:sp>
      <p:sp>
        <p:nvSpPr>
          <p:cNvPr id="5" name="Zástupný symbol päty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symbol čísla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AE967-A4F0-495F-A784-1025C10423C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6976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 err="1"/>
              <a:t>Linked</a:t>
            </a:r>
            <a:r>
              <a:rPr lang="sk-SK" dirty="0"/>
              <a:t> List </a:t>
            </a:r>
            <a:br>
              <a:rPr lang="sk-SK" dirty="0"/>
            </a:br>
            <a:r>
              <a:rPr lang="sk-SK" dirty="0"/>
              <a:t>(zreťazený zoznam)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67594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Ak</a:t>
            </a:r>
            <a:r>
              <a:rPr lang="sk-SK" dirty="0"/>
              <a:t>ý je rozdiel medzi </a:t>
            </a:r>
            <a:r>
              <a:rPr lang="sk-SK" dirty="0" err="1"/>
              <a:t>int</a:t>
            </a:r>
            <a:r>
              <a:rPr lang="sk-SK" dirty="0"/>
              <a:t>, </a:t>
            </a:r>
            <a:r>
              <a:rPr lang="sk-SK" dirty="0" err="1"/>
              <a:t>double</a:t>
            </a:r>
            <a:r>
              <a:rPr lang="sk-SK" dirty="0"/>
              <a:t>, </a:t>
            </a:r>
            <a:r>
              <a:rPr lang="sk-SK" dirty="0" err="1"/>
              <a:t>boolean</a:t>
            </a:r>
            <a:r>
              <a:rPr lang="sk-SK" dirty="0"/>
              <a:t>, ... a medzi </a:t>
            </a:r>
            <a:r>
              <a:rPr lang="sk-SK" dirty="0" err="1"/>
              <a:t>Integer</a:t>
            </a:r>
            <a:r>
              <a:rPr lang="sk-SK" dirty="0"/>
              <a:t>, </a:t>
            </a:r>
            <a:r>
              <a:rPr lang="sk-SK" dirty="0" err="1"/>
              <a:t>Double</a:t>
            </a:r>
            <a:r>
              <a:rPr lang="sk-SK" dirty="0"/>
              <a:t>, </a:t>
            </a:r>
            <a:r>
              <a:rPr lang="sk-SK" dirty="0" err="1"/>
              <a:t>Boolean</a:t>
            </a:r>
            <a:r>
              <a:rPr lang="sk-SK" dirty="0"/>
              <a:t>, ...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838200" y="2189527"/>
            <a:ext cx="10515600" cy="45048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sk-SK" dirty="0"/>
              <a:t>x</a:t>
            </a:r>
          </a:p>
          <a:p>
            <a:pPr marL="0" indent="0">
              <a:buNone/>
            </a:pPr>
            <a:r>
              <a:rPr lang="sk-SK" b="1" dirty="0" err="1"/>
              <a:t>int</a:t>
            </a:r>
            <a:r>
              <a:rPr lang="sk-SK" b="1" dirty="0"/>
              <a:t> x</a:t>
            </a:r>
            <a:r>
              <a:rPr lang="sk-SK" dirty="0"/>
              <a:t> – vám alokuje 4 bajty pamäte v oblasti dát dostupných </a:t>
            </a:r>
          </a:p>
          <a:p>
            <a:pPr marL="0" indent="0">
              <a:buNone/>
            </a:pPr>
            <a:r>
              <a:rPr lang="sk-SK" dirty="0"/>
              <a:t>cez priamu adresu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y</a:t>
            </a:r>
          </a:p>
          <a:p>
            <a:pPr marL="0" indent="0">
              <a:buNone/>
            </a:pPr>
            <a:r>
              <a:rPr lang="sk-SK" b="1" dirty="0" err="1"/>
              <a:t>Integer</a:t>
            </a:r>
            <a:r>
              <a:rPr lang="sk-SK" b="1" dirty="0"/>
              <a:t> y</a:t>
            </a:r>
            <a:r>
              <a:rPr lang="sk-SK" dirty="0"/>
              <a:t> – vám alokuje 4 bajty pamäte z haldy (zreťazená voľná pamäť)</a:t>
            </a:r>
          </a:p>
          <a:p>
            <a:pPr marL="0" indent="0">
              <a:buNone/>
            </a:pPr>
            <a:r>
              <a:rPr lang="sk-SK" dirty="0"/>
              <a:t>A okrem toho v oblasti dát vznikne ukazovateľ na tie 4 bajty a metódy pracujúce s týmto typom dát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Pozn. skutočný počet bajtov pre dáta typov </a:t>
            </a:r>
            <a:r>
              <a:rPr lang="sk-SK" dirty="0" err="1"/>
              <a:t>int</a:t>
            </a:r>
            <a:r>
              <a:rPr lang="sk-SK" dirty="0"/>
              <a:t> a </a:t>
            </a:r>
            <a:r>
              <a:rPr lang="sk-SK" dirty="0" err="1"/>
              <a:t>Integer</a:t>
            </a:r>
            <a:r>
              <a:rPr lang="sk-SK" dirty="0"/>
              <a:t> závisí od šírky dátovej zbernice počítača. U 64-bitových strojov je to až 8 bajtov.</a:t>
            </a:r>
          </a:p>
        </p:txBody>
      </p:sp>
      <p:graphicFrame>
        <p:nvGraphicFramePr>
          <p:cNvPr id="4" name="Tabuľk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950696"/>
              </p:ext>
            </p:extLst>
          </p:nvPr>
        </p:nvGraphicFramePr>
        <p:xfrm>
          <a:off x="7553043" y="3496595"/>
          <a:ext cx="1320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uľk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651503"/>
              </p:ext>
            </p:extLst>
          </p:nvPr>
        </p:nvGraphicFramePr>
        <p:xfrm>
          <a:off x="1244598" y="2189527"/>
          <a:ext cx="13377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uľk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963033"/>
              </p:ext>
            </p:extLst>
          </p:nvPr>
        </p:nvGraphicFramePr>
        <p:xfrm>
          <a:off x="1244598" y="3811979"/>
          <a:ext cx="15070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7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Rovná spojovacia šípka 7"/>
          <p:cNvCxnSpPr>
            <a:cxnSpLocks/>
            <a:stCxn id="6" idx="3"/>
            <a:endCxn id="4" idx="1"/>
          </p:cNvCxnSpPr>
          <p:nvPr/>
        </p:nvCxnSpPr>
        <p:spPr>
          <a:xfrm flipV="1">
            <a:off x="2751665" y="3682015"/>
            <a:ext cx="4801378" cy="315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uľka 8">
            <a:extLst>
              <a:ext uri="{FF2B5EF4-FFF2-40B4-BE49-F238E27FC236}">
                <a16:creationId xmlns:a16="http://schemas.microsoft.com/office/drawing/2014/main" id="{52A809C2-5617-4D56-9A9C-A9438F65B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33572"/>
              </p:ext>
            </p:extLst>
          </p:nvPr>
        </p:nvGraphicFramePr>
        <p:xfrm>
          <a:off x="7553043" y="3867435"/>
          <a:ext cx="1320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uľka 9">
            <a:extLst>
              <a:ext uri="{FF2B5EF4-FFF2-40B4-BE49-F238E27FC236}">
                <a16:creationId xmlns:a16="http://schemas.microsoft.com/office/drawing/2014/main" id="{0608A301-3BC0-461F-B734-7E133D28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120534"/>
              </p:ext>
            </p:extLst>
          </p:nvPr>
        </p:nvGraphicFramePr>
        <p:xfrm>
          <a:off x="9859199" y="2224055"/>
          <a:ext cx="1961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1160">
                  <a:extLst>
                    <a:ext uri="{9D8B030D-6E8A-4147-A177-3AD203B41FA5}">
                      <a16:colId xmlns:a16="http://schemas.microsoft.com/office/drawing/2014/main" val="3252022124"/>
                    </a:ext>
                  </a:extLst>
                </a:gridCol>
              </a:tblGrid>
              <a:tr h="300513">
                <a:tc>
                  <a:txBody>
                    <a:bodyPr/>
                    <a:lstStyle/>
                    <a:p>
                      <a:r>
                        <a:rPr lang="sk-SK" dirty="0"/>
                        <a:t>Tabuľka metód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200731"/>
                  </a:ext>
                </a:extLst>
              </a:tr>
              <a:tr h="300513">
                <a:tc>
                  <a:txBody>
                    <a:bodyPr/>
                    <a:lstStyle/>
                    <a:p>
                      <a:r>
                        <a:rPr lang="sk-SK" dirty="0"/>
                        <a:t>pracujúcich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598447"/>
                  </a:ext>
                </a:extLst>
              </a:tr>
              <a:tr h="300513">
                <a:tc>
                  <a:txBody>
                    <a:bodyPr/>
                    <a:lstStyle/>
                    <a:p>
                      <a:r>
                        <a:rPr lang="sk-SK" dirty="0"/>
                        <a:t>s typom </a:t>
                      </a:r>
                      <a:r>
                        <a:rPr lang="sk-SK" dirty="0" err="1"/>
                        <a:t>Integer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346767"/>
                  </a:ext>
                </a:extLst>
              </a:tr>
              <a:tr h="300513">
                <a:tc>
                  <a:txBody>
                    <a:bodyPr/>
                    <a:lstStyle/>
                    <a:p>
                      <a:r>
                        <a:rPr lang="sk-SK" dirty="0"/>
                        <a:t>Napr. </a:t>
                      </a:r>
                      <a:r>
                        <a:rPr lang="sk-SK" dirty="0" err="1"/>
                        <a:t>parseInt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469192"/>
                  </a:ext>
                </a:extLst>
              </a:tr>
              <a:tr h="300513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333564"/>
                  </a:ext>
                </a:extLst>
              </a:tr>
            </a:tbl>
          </a:graphicData>
        </a:graphic>
      </p:graphicFrame>
      <p:cxnSp>
        <p:nvCxnSpPr>
          <p:cNvPr id="11" name="Rovná spojovacia šípka 10">
            <a:extLst>
              <a:ext uri="{FF2B5EF4-FFF2-40B4-BE49-F238E27FC236}">
                <a16:creationId xmlns:a16="http://schemas.microsoft.com/office/drawing/2014/main" id="{62073268-AAC7-4A34-990B-034E2ACA427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8873843" y="2675475"/>
            <a:ext cx="985356" cy="1377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02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092"/>
          </a:xfrm>
        </p:spPr>
        <p:txBody>
          <a:bodyPr/>
          <a:lstStyle/>
          <a:p>
            <a:r>
              <a:rPr lang="sk-SK" dirty="0" err="1"/>
              <a:t>Arrays</a:t>
            </a:r>
            <a:r>
              <a:rPr lang="sk-SK" dirty="0"/>
              <a:t> </a:t>
            </a:r>
            <a:r>
              <a:rPr lang="sk-SK" dirty="0" err="1"/>
              <a:t>vs</a:t>
            </a:r>
            <a:r>
              <a:rPr lang="sk-SK" dirty="0"/>
              <a:t>. </a:t>
            </a:r>
            <a:r>
              <a:rPr lang="sk-SK" dirty="0" err="1"/>
              <a:t>Linked</a:t>
            </a:r>
            <a:r>
              <a:rPr lang="sk-SK" dirty="0"/>
              <a:t> List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sk-SK" dirty="0">
                <a:solidFill>
                  <a:srgbClr val="FF0000"/>
                </a:solidFill>
              </a:rPr>
              <a:t>Pole je statická </a:t>
            </a:r>
            <a:r>
              <a:rPr lang="en-US" dirty="0" err="1">
                <a:solidFill>
                  <a:srgbClr val="FF0000"/>
                </a:solidFill>
              </a:rPr>
              <a:t>homog</a:t>
            </a:r>
            <a:r>
              <a:rPr lang="sk-SK" dirty="0">
                <a:solidFill>
                  <a:srgbClr val="FF0000"/>
                </a:solidFill>
              </a:rPr>
              <a:t>é</a:t>
            </a:r>
            <a:r>
              <a:rPr lang="en-US" dirty="0" err="1">
                <a:solidFill>
                  <a:srgbClr val="FF0000"/>
                </a:solidFill>
              </a:rPr>
              <a:t>nna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sk-SK" dirty="0">
                <a:solidFill>
                  <a:srgbClr val="FF0000"/>
                </a:solidFill>
              </a:rPr>
              <a:t>štruktúra. </a:t>
            </a:r>
          </a:p>
          <a:p>
            <a:r>
              <a:rPr lang="sk-SK" dirty="0"/>
              <a:t>Pri vytvorení je známa jeho veľkosť a tá sa počas behu programu nemôže meniť.</a:t>
            </a:r>
          </a:p>
          <a:p>
            <a:r>
              <a:rPr lang="sk-SK" dirty="0"/>
              <a:t>Protiváhou k tejto nevýhode je rýchly prístup ku každej položke poľa : 	</a:t>
            </a:r>
            <a:r>
              <a:rPr lang="sk-SK" b="1" i="1" dirty="0"/>
              <a:t>adresa prvku = adresa prvého+</a:t>
            </a:r>
            <a:r>
              <a:rPr lang="en-US" b="1" i="1" dirty="0"/>
              <a:t>index*</a:t>
            </a:r>
            <a:r>
              <a:rPr lang="en-US" b="1" i="1" dirty="0" err="1"/>
              <a:t>sizeof</a:t>
            </a:r>
            <a:r>
              <a:rPr lang="en-US" b="1" i="1" dirty="0"/>
              <a:t>(</a:t>
            </a:r>
            <a:r>
              <a:rPr lang="en-US" b="1" i="1" dirty="0" err="1"/>
              <a:t>typ</a:t>
            </a:r>
            <a:r>
              <a:rPr lang="en-US" b="1" i="1" dirty="0"/>
              <a:t>)</a:t>
            </a:r>
            <a:endParaRPr lang="sk-SK" b="1" i="1" dirty="0"/>
          </a:p>
          <a:p>
            <a:r>
              <a:rPr lang="sk-SK" dirty="0"/>
              <a:t>Nevýhodou je tiež časovo náročná operácia vkladania nového prvku medzi ostatné prvky poľa, resp. jeho odstraňovania. Indexy všetkých prvkov za ním sa musia posúvať</a:t>
            </a:r>
            <a:r>
              <a:rPr lang="en-US" dirty="0"/>
              <a:t>. </a:t>
            </a:r>
            <a:r>
              <a:rPr lang="en-US" dirty="0" err="1"/>
              <a:t>Zlo</a:t>
            </a:r>
            <a:r>
              <a:rPr lang="sk-SK" dirty="0"/>
              <a:t>ž</a:t>
            </a:r>
            <a:r>
              <a:rPr lang="en-US" dirty="0" err="1"/>
              <a:t>itos</a:t>
            </a:r>
            <a:r>
              <a:rPr lang="sk-SK" dirty="0"/>
              <a:t>ť</a:t>
            </a:r>
            <a:r>
              <a:rPr lang="en-US" dirty="0"/>
              <a:t> </a:t>
            </a:r>
            <a:r>
              <a:rPr lang="en-US" dirty="0" err="1"/>
              <a:t>tejto</a:t>
            </a:r>
            <a:r>
              <a:rPr lang="en-US" dirty="0"/>
              <a:t> </a:t>
            </a:r>
            <a:r>
              <a:rPr lang="en-US" dirty="0" err="1"/>
              <a:t>oper</a:t>
            </a:r>
            <a:r>
              <a:rPr lang="sk-SK" dirty="0"/>
              <a:t>á</a:t>
            </a:r>
            <a:r>
              <a:rPr lang="en-US" dirty="0" err="1"/>
              <a:t>cie</a:t>
            </a:r>
            <a:r>
              <a:rPr lang="sk-SK" dirty="0"/>
              <a:t> je </a:t>
            </a:r>
            <a:r>
              <a:rPr lang="sk-SK" b="1" dirty="0"/>
              <a:t>O</a:t>
            </a:r>
            <a:r>
              <a:rPr lang="en-US" b="1" dirty="0"/>
              <a:t>(n)</a:t>
            </a:r>
            <a:endParaRPr lang="sk-SK" b="1" dirty="0"/>
          </a:p>
          <a:p>
            <a:pPr marL="0" indent="0">
              <a:buNone/>
            </a:pPr>
            <a:r>
              <a:rPr lang="sk-SK" dirty="0">
                <a:solidFill>
                  <a:srgbClr val="FF0000"/>
                </a:solidFill>
              </a:rPr>
              <a:t>Zreťazený zoznam (kolekcia) je dynamická homogénna štruktúra</a:t>
            </a:r>
          </a:p>
          <a:p>
            <a:r>
              <a:rPr lang="sk-SK" dirty="0"/>
              <a:t>Pri vytvorení môže byť jeho veľkosť aj nulová a pružne sa podľa potreby mení</a:t>
            </a:r>
          </a:p>
          <a:p>
            <a:r>
              <a:rPr lang="sk-SK" dirty="0"/>
              <a:t>Cenou za to je zložitý prístup k jednotlivým položkám kolekcie. Náročnosť tejto operácie je </a:t>
            </a:r>
            <a:r>
              <a:rPr lang="sk-SK" b="1" dirty="0"/>
              <a:t>O</a:t>
            </a:r>
            <a:r>
              <a:rPr lang="en-US" b="1" dirty="0"/>
              <a:t>(n)</a:t>
            </a:r>
          </a:p>
          <a:p>
            <a:r>
              <a:rPr lang="en-US" dirty="0" err="1"/>
              <a:t>Naopak</a:t>
            </a:r>
            <a:r>
              <a:rPr lang="en-US" dirty="0"/>
              <a:t> v</a:t>
            </a:r>
            <a:r>
              <a:rPr lang="sk-SK" dirty="0"/>
              <a:t>ý</a:t>
            </a:r>
            <a:r>
              <a:rPr lang="en-US" dirty="0" err="1"/>
              <a:t>hodou</a:t>
            </a:r>
            <a:r>
              <a:rPr lang="en-US" dirty="0"/>
              <a:t> je</a:t>
            </a:r>
            <a:r>
              <a:rPr lang="sk-SK" dirty="0"/>
              <a:t> rýchly postup vkladania a odstraňovania prvku v takomto zozname</a:t>
            </a:r>
          </a:p>
        </p:txBody>
      </p:sp>
    </p:spTree>
    <p:extLst>
      <p:ext uri="{BB962C8B-B14F-4D97-AF65-F5344CB8AC3E}">
        <p14:creationId xmlns:p14="http://schemas.microsoft.com/office/powerpoint/2010/main" val="3105519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uľka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237430"/>
              </p:ext>
            </p:extLst>
          </p:nvPr>
        </p:nvGraphicFramePr>
        <p:xfrm>
          <a:off x="2382438" y="4285365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r>
                        <a:rPr lang="en-US" sz="800" dirty="0"/>
                        <a:t>456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BlokTextu 2">
            <a:extLst>
              <a:ext uri="{FF2B5EF4-FFF2-40B4-BE49-F238E27FC236}">
                <a16:creationId xmlns:a16="http://schemas.microsoft.com/office/drawing/2014/main" id="{8074156E-CC93-620D-DB6D-BC75904B4BF2}"/>
              </a:ext>
            </a:extLst>
          </p:cNvPr>
          <p:cNvSpPr txBox="1"/>
          <p:nvPr/>
        </p:nvSpPr>
        <p:spPr>
          <a:xfrm>
            <a:off x="0" y="3381855"/>
            <a:ext cx="215757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sk-SK" dirty="0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Arrays</a:t>
            </a:r>
            <a:r>
              <a:rPr lang="sk-SK" dirty="0"/>
              <a:t> </a:t>
            </a:r>
            <a:r>
              <a:rPr lang="sk-SK" dirty="0" err="1"/>
              <a:t>vs</a:t>
            </a:r>
            <a:r>
              <a:rPr lang="sk-SK" dirty="0"/>
              <a:t>. </a:t>
            </a:r>
            <a:r>
              <a:rPr lang="sk-SK" dirty="0" err="1"/>
              <a:t>Linked</a:t>
            </a:r>
            <a:r>
              <a:rPr lang="sk-SK" dirty="0"/>
              <a:t> List</a:t>
            </a:r>
          </a:p>
        </p:txBody>
      </p:sp>
      <p:graphicFrame>
        <p:nvGraphicFramePr>
          <p:cNvPr id="4" name="Zástupný symbol obsah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0073989"/>
              </p:ext>
            </p:extLst>
          </p:nvPr>
        </p:nvGraphicFramePr>
        <p:xfrm>
          <a:off x="838200" y="2178322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BlokTextu 4"/>
          <p:cNvSpPr txBox="1"/>
          <p:nvPr/>
        </p:nvSpPr>
        <p:spPr>
          <a:xfrm>
            <a:off x="1058091" y="1749839"/>
            <a:ext cx="847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 err="1"/>
              <a:t>int</a:t>
            </a:r>
            <a:r>
              <a:rPr lang="sk-SK" dirty="0"/>
              <a:t> </a:t>
            </a:r>
            <a:r>
              <a:rPr lang="sk-SK" dirty="0" err="1"/>
              <a:t>mojePole</a:t>
            </a:r>
            <a:r>
              <a:rPr lang="en-US" dirty="0"/>
              <a:t>[] = new </a:t>
            </a:r>
            <a:r>
              <a:rPr lang="en-US" dirty="0" err="1"/>
              <a:t>int</a:t>
            </a:r>
            <a:r>
              <a:rPr lang="en-US" dirty="0"/>
              <a:t>[10]</a:t>
            </a:r>
            <a:r>
              <a:rPr lang="sk-SK" b="1" i="1" dirty="0"/>
              <a:t> 		adresa prvku = adresa prvého+</a:t>
            </a:r>
            <a:r>
              <a:rPr lang="en-US" b="1" i="1" dirty="0"/>
              <a:t>index*</a:t>
            </a:r>
            <a:r>
              <a:rPr lang="en-US" b="1" i="1" dirty="0" err="1"/>
              <a:t>sizeof</a:t>
            </a:r>
            <a:r>
              <a:rPr lang="en-US" b="1" i="1" dirty="0"/>
              <a:t>(</a:t>
            </a:r>
            <a:r>
              <a:rPr lang="en-US" b="1" i="1" dirty="0" err="1"/>
              <a:t>typ</a:t>
            </a:r>
            <a:r>
              <a:rPr lang="en-US" b="1" i="1" dirty="0"/>
              <a:t>)</a:t>
            </a:r>
            <a:endParaRPr lang="sk-SK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464527" y="2707002"/>
            <a:ext cx="8083730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dirty="0" err="1"/>
              <a:t>ArrayList</a:t>
            </a:r>
            <a:r>
              <a:rPr lang="sk-SK" altLang="sk-SK" dirty="0"/>
              <a:t>&lt;</a:t>
            </a:r>
            <a:r>
              <a:rPr lang="sk-SK" altLang="sk-SK" dirty="0" err="1"/>
              <a:t>Intege</a:t>
            </a:r>
            <a:r>
              <a:rPr lang="en-US" altLang="sk-SK" dirty="0"/>
              <a:t>r&gt; </a:t>
            </a:r>
            <a:r>
              <a:rPr lang="sk-SK" altLang="sk-SK" dirty="0" err="1"/>
              <a:t>mojZoznam</a:t>
            </a:r>
            <a:r>
              <a:rPr lang="sk-SK" altLang="sk-SK" dirty="0"/>
              <a:t>= new </a:t>
            </a:r>
            <a:r>
              <a:rPr lang="sk-SK" altLang="sk-SK" dirty="0" err="1"/>
              <a:t>ArrayList</a:t>
            </a:r>
            <a:r>
              <a:rPr lang="sk-SK" altLang="sk-SK" dirty="0"/>
              <a:t>&lt;&gt;(10);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dirty="0"/>
              <a:t>Jednotlivé prvky listu sú rozmiestnené v pamäti na vopred neznámom mieste.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dirty="0"/>
              <a:t>Každý prvok preto obsahuje okrem hodnoty aj ukazovateľ na svojho nasledovníka.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b="1" dirty="0" err="1"/>
              <a:t>First</a:t>
            </a:r>
            <a:r>
              <a:rPr lang="sk-SK" altLang="sk-SK" dirty="0"/>
              <a:t> neobsahuje hodnotu iba ukazovateľ na prvý záznam listu.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dirty="0"/>
              <a:t>Posledný ukazovateľ v štruktúre je </a:t>
            </a:r>
            <a:r>
              <a:rPr lang="sk-SK" altLang="sk-SK" dirty="0" err="1"/>
              <a:t>null</a:t>
            </a:r>
            <a:endParaRPr lang="sk-SK" altLang="sk-SK" dirty="0"/>
          </a:p>
        </p:txBody>
      </p:sp>
      <p:graphicFrame>
        <p:nvGraphicFramePr>
          <p:cNvPr id="8" name="Tabuľk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727320"/>
              </p:ext>
            </p:extLst>
          </p:nvPr>
        </p:nvGraphicFramePr>
        <p:xfrm>
          <a:off x="838200" y="4438685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/>
                        <a:t>123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3" name="Tabuľka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95034"/>
              </p:ext>
            </p:extLst>
          </p:nvPr>
        </p:nvGraphicFramePr>
        <p:xfrm>
          <a:off x="838200" y="3543798"/>
          <a:ext cx="959394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1848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BlokTextu 43"/>
          <p:cNvSpPr txBox="1"/>
          <p:nvPr/>
        </p:nvSpPr>
        <p:spPr>
          <a:xfrm>
            <a:off x="152451" y="3431787"/>
            <a:ext cx="68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</a:t>
            </a:r>
            <a:endParaRPr lang="sk-SK" dirty="0"/>
          </a:p>
        </p:txBody>
      </p:sp>
      <p:cxnSp>
        <p:nvCxnSpPr>
          <p:cNvPr id="46" name="Rovná spojovacia šípka 45"/>
          <p:cNvCxnSpPr>
            <a:cxnSpLocks/>
            <a:endCxn id="8" idx="0"/>
          </p:cNvCxnSpPr>
          <p:nvPr/>
        </p:nvCxnSpPr>
        <p:spPr>
          <a:xfrm flipH="1">
            <a:off x="1317897" y="3664853"/>
            <a:ext cx="7457" cy="77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ovná spojovacia šípka 18"/>
          <p:cNvCxnSpPr>
            <a:cxnSpLocks/>
            <a:endCxn id="35" idx="1"/>
          </p:cNvCxnSpPr>
          <p:nvPr/>
        </p:nvCxnSpPr>
        <p:spPr>
          <a:xfrm>
            <a:off x="2702462" y="4598357"/>
            <a:ext cx="1022628" cy="54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uľka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654452"/>
              </p:ext>
            </p:extLst>
          </p:nvPr>
        </p:nvGraphicFramePr>
        <p:xfrm>
          <a:off x="3725090" y="4439262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r>
                        <a:rPr lang="en-US" sz="800" dirty="0"/>
                        <a:t>789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1" name="Rovná spojovacia šípka 20"/>
          <p:cNvCxnSpPr>
            <a:cxnSpLocks/>
            <a:endCxn id="38" idx="1"/>
          </p:cNvCxnSpPr>
          <p:nvPr/>
        </p:nvCxnSpPr>
        <p:spPr>
          <a:xfrm>
            <a:off x="4523376" y="4788694"/>
            <a:ext cx="627743" cy="376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Tabuľka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995139"/>
              </p:ext>
            </p:extLst>
          </p:nvPr>
        </p:nvGraphicFramePr>
        <p:xfrm>
          <a:off x="5151119" y="4951832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r>
                        <a:rPr lang="en-US" sz="800" dirty="0"/>
                        <a:t>101112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3" name="Rovná spojovacia šípka 22"/>
          <p:cNvCxnSpPr>
            <a:cxnSpLocks/>
          </p:cNvCxnSpPr>
          <p:nvPr/>
        </p:nvCxnSpPr>
        <p:spPr>
          <a:xfrm>
            <a:off x="5942874" y="5301585"/>
            <a:ext cx="645886" cy="230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uľka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012023"/>
              </p:ext>
            </p:extLst>
          </p:nvPr>
        </p:nvGraphicFramePr>
        <p:xfrm>
          <a:off x="6588760" y="5280037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r>
                        <a:rPr lang="en-US" sz="800" dirty="0"/>
                        <a:t>131415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5" name="Rovná spojnica 44"/>
          <p:cNvCxnSpPr/>
          <p:nvPr/>
        </p:nvCxnSpPr>
        <p:spPr>
          <a:xfrm>
            <a:off x="7217229" y="5608751"/>
            <a:ext cx="5758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uľka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730334"/>
              </p:ext>
            </p:extLst>
          </p:nvPr>
        </p:nvGraphicFramePr>
        <p:xfrm>
          <a:off x="8104776" y="4225902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r>
                        <a:rPr lang="en-US" sz="800" dirty="0"/>
                        <a:t>161718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" name="Rovná spojovacia šípka 24"/>
          <p:cNvCxnSpPr>
            <a:endCxn id="48" idx="1"/>
          </p:cNvCxnSpPr>
          <p:nvPr/>
        </p:nvCxnSpPr>
        <p:spPr>
          <a:xfrm flipV="1">
            <a:off x="7793083" y="4439262"/>
            <a:ext cx="311693" cy="1169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uľka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678839"/>
              </p:ext>
            </p:extLst>
          </p:nvPr>
        </p:nvGraphicFramePr>
        <p:xfrm>
          <a:off x="6627768" y="5931562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r>
                        <a:rPr lang="sk-SK" sz="800" dirty="0"/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8" name="Zalomená spojnica 27"/>
          <p:cNvCxnSpPr>
            <a:cxnSpLocks/>
          </p:cNvCxnSpPr>
          <p:nvPr/>
        </p:nvCxnSpPr>
        <p:spPr>
          <a:xfrm rot="16200000" flipH="1">
            <a:off x="8412427" y="4981931"/>
            <a:ext cx="1006942" cy="982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ovná spojovacia šípka 40"/>
          <p:cNvCxnSpPr>
            <a:cxnSpLocks/>
          </p:cNvCxnSpPr>
          <p:nvPr/>
        </p:nvCxnSpPr>
        <p:spPr>
          <a:xfrm>
            <a:off x="6932296" y="6259767"/>
            <a:ext cx="0" cy="323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uľka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65063"/>
              </p:ext>
            </p:extLst>
          </p:nvPr>
        </p:nvGraphicFramePr>
        <p:xfrm>
          <a:off x="4940376" y="6147243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Rovná spojovacia šípka 30"/>
          <p:cNvCxnSpPr>
            <a:cxnSpLocks/>
          </p:cNvCxnSpPr>
          <p:nvPr/>
        </p:nvCxnSpPr>
        <p:spPr>
          <a:xfrm>
            <a:off x="5420073" y="6474148"/>
            <a:ext cx="0" cy="218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uľka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964448"/>
              </p:ext>
            </p:extLst>
          </p:nvPr>
        </p:nvGraphicFramePr>
        <p:xfrm>
          <a:off x="8790035" y="5496713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r>
                        <a:rPr lang="en-US" sz="800" dirty="0"/>
                        <a:t>192021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4" name="Rovná spojovacia šípka 33"/>
          <p:cNvCxnSpPr>
            <a:cxnSpLocks/>
          </p:cNvCxnSpPr>
          <p:nvPr/>
        </p:nvCxnSpPr>
        <p:spPr>
          <a:xfrm flipV="1">
            <a:off x="1797594" y="4652045"/>
            <a:ext cx="605197" cy="136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Tabuľka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688614"/>
              </p:ext>
            </p:extLst>
          </p:nvPr>
        </p:nvGraphicFramePr>
        <p:xfrm>
          <a:off x="525998" y="5329571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048"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D28BEED9-C4D5-0530-B7E6-DA55B49CD458}"/>
              </a:ext>
            </a:extLst>
          </p:cNvPr>
          <p:cNvCxnSpPr>
            <a:cxnSpLocks/>
          </p:cNvCxnSpPr>
          <p:nvPr/>
        </p:nvCxnSpPr>
        <p:spPr>
          <a:xfrm>
            <a:off x="1046917" y="5706757"/>
            <a:ext cx="0" cy="234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lokTextu 9">
            <a:extLst>
              <a:ext uri="{FF2B5EF4-FFF2-40B4-BE49-F238E27FC236}">
                <a16:creationId xmlns:a16="http://schemas.microsoft.com/office/drawing/2014/main" id="{24A41AE8-87AD-96D6-B770-09AADD3D9258}"/>
              </a:ext>
            </a:extLst>
          </p:cNvPr>
          <p:cNvSpPr txBox="1"/>
          <p:nvPr/>
        </p:nvSpPr>
        <p:spPr>
          <a:xfrm>
            <a:off x="226031" y="516519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  <a:endParaRPr lang="sk-SK" dirty="0"/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E7D102C4-62A1-EACB-177E-33B5ED8ED895}"/>
              </a:ext>
            </a:extLst>
          </p:cNvPr>
          <p:cNvSpPr txBox="1"/>
          <p:nvPr/>
        </p:nvSpPr>
        <p:spPr>
          <a:xfrm>
            <a:off x="490433" y="5920670"/>
            <a:ext cx="91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</a:t>
            </a:r>
            <a:endParaRPr lang="sk-SK" dirty="0"/>
          </a:p>
        </p:txBody>
      </p:sp>
      <p:sp>
        <p:nvSpPr>
          <p:cNvPr id="29" name="BlokTextu 28">
            <a:extLst>
              <a:ext uri="{FF2B5EF4-FFF2-40B4-BE49-F238E27FC236}">
                <a16:creationId xmlns:a16="http://schemas.microsoft.com/office/drawing/2014/main" id="{42E0E06D-15E1-2704-1141-E3B28B0E9898}"/>
              </a:ext>
            </a:extLst>
          </p:cNvPr>
          <p:cNvSpPr txBox="1"/>
          <p:nvPr/>
        </p:nvSpPr>
        <p:spPr>
          <a:xfrm>
            <a:off x="8098217" y="6359863"/>
            <a:ext cx="114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sk-SK" dirty="0"/>
          </a:p>
        </p:txBody>
      </p:sp>
      <p:cxnSp>
        <p:nvCxnSpPr>
          <p:cNvPr id="30" name="Rovná spojovacia šípka 29">
            <a:extLst>
              <a:ext uri="{FF2B5EF4-FFF2-40B4-BE49-F238E27FC236}">
                <a16:creationId xmlns:a16="http://schemas.microsoft.com/office/drawing/2014/main" id="{38E2286A-B35C-7A1F-AA90-DBD341C0E30D}"/>
              </a:ext>
            </a:extLst>
          </p:cNvPr>
          <p:cNvCxnSpPr>
            <a:cxnSpLocks/>
          </p:cNvCxnSpPr>
          <p:nvPr/>
        </p:nvCxnSpPr>
        <p:spPr>
          <a:xfrm flipH="1" flipV="1">
            <a:off x="7587162" y="6285638"/>
            <a:ext cx="1377860" cy="119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BlokTextu 58">
            <a:extLst>
              <a:ext uri="{FF2B5EF4-FFF2-40B4-BE49-F238E27FC236}">
                <a16:creationId xmlns:a16="http://schemas.microsoft.com/office/drawing/2014/main" id="{D4F0607C-1E7E-72D1-873E-72AE8413F625}"/>
              </a:ext>
            </a:extLst>
          </p:cNvPr>
          <p:cNvSpPr txBox="1"/>
          <p:nvPr/>
        </p:nvSpPr>
        <p:spPr>
          <a:xfrm>
            <a:off x="2634563" y="5086314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</a:t>
            </a:r>
            <a:endParaRPr lang="sk-SK" dirty="0"/>
          </a:p>
        </p:txBody>
      </p:sp>
      <p:sp>
        <p:nvSpPr>
          <p:cNvPr id="110" name="BlokTextu 109">
            <a:extLst>
              <a:ext uri="{FF2B5EF4-FFF2-40B4-BE49-F238E27FC236}">
                <a16:creationId xmlns:a16="http://schemas.microsoft.com/office/drawing/2014/main" id="{20E36E1B-3A81-9F9F-3815-0195AA7DD930}"/>
              </a:ext>
            </a:extLst>
          </p:cNvPr>
          <p:cNvSpPr txBox="1"/>
          <p:nvPr/>
        </p:nvSpPr>
        <p:spPr>
          <a:xfrm>
            <a:off x="-44186" y="2568241"/>
            <a:ext cx="860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mojList</a:t>
            </a:r>
            <a:endParaRPr lang="sk-SK" dirty="0"/>
          </a:p>
        </p:txBody>
      </p:sp>
      <p:cxnSp>
        <p:nvCxnSpPr>
          <p:cNvPr id="111" name="Rovná spojovacia šípka 110">
            <a:extLst>
              <a:ext uri="{FF2B5EF4-FFF2-40B4-BE49-F238E27FC236}">
                <a16:creationId xmlns:a16="http://schemas.microsoft.com/office/drawing/2014/main" id="{51D343E7-3C2D-693E-4C3C-F5878B2EF14B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815986" y="2848720"/>
            <a:ext cx="262801" cy="533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BlokTextu 180">
            <a:extLst>
              <a:ext uri="{FF2B5EF4-FFF2-40B4-BE49-F238E27FC236}">
                <a16:creationId xmlns:a16="http://schemas.microsoft.com/office/drawing/2014/main" id="{568DFD08-BF2E-1841-DBCC-F8588C84DE91}"/>
              </a:ext>
            </a:extLst>
          </p:cNvPr>
          <p:cNvSpPr txBox="1"/>
          <p:nvPr/>
        </p:nvSpPr>
        <p:spPr>
          <a:xfrm>
            <a:off x="683775" y="6220457"/>
            <a:ext cx="5272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sk-SK" dirty="0"/>
          </a:p>
        </p:txBody>
      </p:sp>
      <p:cxnSp>
        <p:nvCxnSpPr>
          <p:cNvPr id="50" name="Rovná spojovacia šípka 49">
            <a:extLst>
              <a:ext uri="{FF2B5EF4-FFF2-40B4-BE49-F238E27FC236}">
                <a16:creationId xmlns:a16="http://schemas.microsoft.com/office/drawing/2014/main" id="{B3D41755-2CB1-4507-45EB-C7CC00ED38A3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7587162" y="5824195"/>
            <a:ext cx="1477008" cy="320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7605A6-37BD-A7BC-AAB9-FD0CC4E95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877346" cy="894332"/>
          </a:xfrm>
        </p:spPr>
        <p:txBody>
          <a:bodyPr/>
          <a:lstStyle/>
          <a:p>
            <a:r>
              <a:rPr lang="sk-SK" dirty="0"/>
              <a:t>Dynamické FIFO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D42DF28B-9D01-CA1B-4951-949B32DF7F7F}"/>
              </a:ext>
            </a:extLst>
          </p:cNvPr>
          <p:cNvSpPr txBox="1"/>
          <p:nvPr/>
        </p:nvSpPr>
        <p:spPr>
          <a:xfrm>
            <a:off x="1065659" y="2509430"/>
            <a:ext cx="122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mojeDFIFO</a:t>
            </a:r>
            <a:endParaRPr lang="sk-SK" dirty="0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07A5B349-5CDA-38C5-C969-FD90A5137A39}"/>
              </a:ext>
            </a:extLst>
          </p:cNvPr>
          <p:cNvSpPr txBox="1"/>
          <p:nvPr/>
        </p:nvSpPr>
        <p:spPr>
          <a:xfrm>
            <a:off x="1130062" y="3170580"/>
            <a:ext cx="441672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sk-SK" dirty="0"/>
          </a:p>
        </p:txBody>
      </p:sp>
      <p:graphicFrame>
        <p:nvGraphicFramePr>
          <p:cNvPr id="6" name="Tabuľka 5">
            <a:extLst>
              <a:ext uri="{FF2B5EF4-FFF2-40B4-BE49-F238E27FC236}">
                <a16:creationId xmlns:a16="http://schemas.microsoft.com/office/drawing/2014/main" id="{3B1C95D5-48A1-DA89-AF45-44A7FD089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379565"/>
              </p:ext>
            </p:extLst>
          </p:nvPr>
        </p:nvGraphicFramePr>
        <p:xfrm>
          <a:off x="2200120" y="3332523"/>
          <a:ext cx="959394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1848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BlokTextu 6">
            <a:extLst>
              <a:ext uri="{FF2B5EF4-FFF2-40B4-BE49-F238E27FC236}">
                <a16:creationId xmlns:a16="http://schemas.microsoft.com/office/drawing/2014/main" id="{A8421746-C2B8-D9CB-0792-0FC607BA64EB}"/>
              </a:ext>
            </a:extLst>
          </p:cNvPr>
          <p:cNvSpPr txBox="1"/>
          <p:nvPr/>
        </p:nvSpPr>
        <p:spPr>
          <a:xfrm>
            <a:off x="1130061" y="3220512"/>
            <a:ext cx="107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tail</a:t>
            </a:r>
            <a:r>
              <a:rPr lang="en-US" dirty="0"/>
              <a:t>(first)</a:t>
            </a:r>
            <a:endParaRPr lang="sk-SK" dirty="0"/>
          </a:p>
        </p:txBody>
      </p:sp>
      <p:cxnSp>
        <p:nvCxnSpPr>
          <p:cNvPr id="8" name="Rovná spojovacia šípka 7">
            <a:extLst>
              <a:ext uri="{FF2B5EF4-FFF2-40B4-BE49-F238E27FC236}">
                <a16:creationId xmlns:a16="http://schemas.microsoft.com/office/drawing/2014/main" id="{7B6A08E3-D802-6303-7D59-731934B944B7}"/>
              </a:ext>
            </a:extLst>
          </p:cNvPr>
          <p:cNvCxnSpPr>
            <a:cxnSpLocks/>
          </p:cNvCxnSpPr>
          <p:nvPr/>
        </p:nvCxnSpPr>
        <p:spPr>
          <a:xfrm>
            <a:off x="2687274" y="3453578"/>
            <a:ext cx="737413" cy="773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uľka 9">
            <a:extLst>
              <a:ext uri="{FF2B5EF4-FFF2-40B4-BE49-F238E27FC236}">
                <a16:creationId xmlns:a16="http://schemas.microsoft.com/office/drawing/2014/main" id="{6A4682EA-8F8C-4638-3F87-E33223901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823714"/>
              </p:ext>
            </p:extLst>
          </p:nvPr>
        </p:nvGraphicFramePr>
        <p:xfrm>
          <a:off x="4228392" y="3401402"/>
          <a:ext cx="959394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1848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Rovná spojovacia šípka 10">
            <a:extLst>
              <a:ext uri="{FF2B5EF4-FFF2-40B4-BE49-F238E27FC236}">
                <a16:creationId xmlns:a16="http://schemas.microsoft.com/office/drawing/2014/main" id="{651087B3-9803-757C-9900-4C8C65E0CC45}"/>
              </a:ext>
            </a:extLst>
          </p:cNvPr>
          <p:cNvCxnSpPr>
            <a:cxnSpLocks/>
          </p:cNvCxnSpPr>
          <p:nvPr/>
        </p:nvCxnSpPr>
        <p:spPr>
          <a:xfrm>
            <a:off x="4715546" y="3522457"/>
            <a:ext cx="3177624" cy="704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lokTextu 11">
            <a:extLst>
              <a:ext uri="{FF2B5EF4-FFF2-40B4-BE49-F238E27FC236}">
                <a16:creationId xmlns:a16="http://schemas.microsoft.com/office/drawing/2014/main" id="{430D4991-EB4F-59E1-62F0-25B5092669C2}"/>
              </a:ext>
            </a:extLst>
          </p:cNvPr>
          <p:cNvSpPr txBox="1"/>
          <p:nvPr/>
        </p:nvSpPr>
        <p:spPr>
          <a:xfrm>
            <a:off x="3499330" y="3245430"/>
            <a:ext cx="685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 err="1"/>
              <a:t>head</a:t>
            </a:r>
            <a:endParaRPr lang="sk-SK" dirty="0"/>
          </a:p>
        </p:txBody>
      </p:sp>
      <p:graphicFrame>
        <p:nvGraphicFramePr>
          <p:cNvPr id="14" name="Tabuľka 13">
            <a:extLst>
              <a:ext uri="{FF2B5EF4-FFF2-40B4-BE49-F238E27FC236}">
                <a16:creationId xmlns:a16="http://schemas.microsoft.com/office/drawing/2014/main" id="{6C6EBADB-FECF-BB0A-1966-0DD19C9D2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112928"/>
              </p:ext>
            </p:extLst>
          </p:nvPr>
        </p:nvGraphicFramePr>
        <p:xfrm>
          <a:off x="3197486" y="4260704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 err="1"/>
                        <a:t>Pr</a:t>
                      </a:r>
                      <a:r>
                        <a:rPr lang="sk-SK" sz="800" dirty="0" err="1"/>
                        <a:t>ší</a:t>
                      </a:r>
                      <a:r>
                        <a:rPr lang="sk-SK" sz="800" dirty="0"/>
                        <a:t>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" name="Rovná spojovacia šípka 14">
            <a:extLst>
              <a:ext uri="{FF2B5EF4-FFF2-40B4-BE49-F238E27FC236}">
                <a16:creationId xmlns:a16="http://schemas.microsoft.com/office/drawing/2014/main" id="{3B3365B3-F72C-0415-3B89-AB1CA3AB3E9B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3842203" y="4459077"/>
            <a:ext cx="2073531" cy="121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lokTextu 15">
            <a:extLst>
              <a:ext uri="{FF2B5EF4-FFF2-40B4-BE49-F238E27FC236}">
                <a16:creationId xmlns:a16="http://schemas.microsoft.com/office/drawing/2014/main" id="{7CC12BF3-E1C3-F101-366B-7F257C7A6BF4}"/>
              </a:ext>
            </a:extLst>
          </p:cNvPr>
          <p:cNvSpPr txBox="1"/>
          <p:nvPr/>
        </p:nvSpPr>
        <p:spPr>
          <a:xfrm>
            <a:off x="5731973" y="5689546"/>
            <a:ext cx="114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newNode</a:t>
            </a:r>
            <a:endParaRPr lang="sk-SK" dirty="0"/>
          </a:p>
        </p:txBody>
      </p:sp>
      <p:graphicFrame>
        <p:nvGraphicFramePr>
          <p:cNvPr id="21" name="Tabuľka 20">
            <a:extLst>
              <a:ext uri="{FF2B5EF4-FFF2-40B4-BE49-F238E27FC236}">
                <a16:creationId xmlns:a16="http://schemas.microsoft.com/office/drawing/2014/main" id="{9EE8D2E4-3977-66F4-06E9-1AB33FC29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480600"/>
              </p:ext>
            </p:extLst>
          </p:nvPr>
        </p:nvGraphicFramePr>
        <p:xfrm>
          <a:off x="5915734" y="4245717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/>
                        <a:t>pr</a:t>
                      </a:r>
                      <a:r>
                        <a:rPr lang="sk-SK" sz="800" dirty="0" err="1"/>
                        <a:t>ší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2" name="Rovná spojovacia šípka 21">
            <a:extLst>
              <a:ext uri="{FF2B5EF4-FFF2-40B4-BE49-F238E27FC236}">
                <a16:creationId xmlns:a16="http://schemas.microsoft.com/office/drawing/2014/main" id="{3FBCBE40-5C89-C224-BE20-90ADC9855EFA}"/>
              </a:ext>
            </a:extLst>
          </p:cNvPr>
          <p:cNvCxnSpPr>
            <a:cxnSpLocks/>
          </p:cNvCxnSpPr>
          <p:nvPr/>
        </p:nvCxnSpPr>
        <p:spPr>
          <a:xfrm>
            <a:off x="6151605" y="4581008"/>
            <a:ext cx="1555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ovná spojovacia šípka 23">
            <a:extLst>
              <a:ext uri="{FF2B5EF4-FFF2-40B4-BE49-F238E27FC236}">
                <a16:creationId xmlns:a16="http://schemas.microsoft.com/office/drawing/2014/main" id="{CCB26B05-5B09-1D84-23B8-D5527F6330E0}"/>
              </a:ext>
            </a:extLst>
          </p:cNvPr>
          <p:cNvCxnSpPr>
            <a:cxnSpLocks/>
          </p:cNvCxnSpPr>
          <p:nvPr/>
        </p:nvCxnSpPr>
        <p:spPr>
          <a:xfrm flipV="1">
            <a:off x="6573784" y="4653829"/>
            <a:ext cx="1133000" cy="1035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BlokTextu 38">
            <a:extLst>
              <a:ext uri="{FF2B5EF4-FFF2-40B4-BE49-F238E27FC236}">
                <a16:creationId xmlns:a16="http://schemas.microsoft.com/office/drawing/2014/main" id="{9DA7E383-6CE9-656E-D44E-70635D942B92}"/>
              </a:ext>
            </a:extLst>
          </p:cNvPr>
          <p:cNvSpPr txBox="1"/>
          <p:nvPr/>
        </p:nvSpPr>
        <p:spPr>
          <a:xfrm>
            <a:off x="1263404" y="4487771"/>
            <a:ext cx="114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  <a:endParaRPr lang="sk-SK" dirty="0"/>
          </a:p>
        </p:txBody>
      </p:sp>
      <p:graphicFrame>
        <p:nvGraphicFramePr>
          <p:cNvPr id="41" name="Tabuľka 40">
            <a:extLst>
              <a:ext uri="{FF2B5EF4-FFF2-40B4-BE49-F238E27FC236}">
                <a16:creationId xmlns:a16="http://schemas.microsoft.com/office/drawing/2014/main" id="{9B96A71C-CD16-36B4-C571-C26EC827F4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544564"/>
              </p:ext>
            </p:extLst>
          </p:nvPr>
        </p:nvGraphicFramePr>
        <p:xfrm>
          <a:off x="1329229" y="4801940"/>
          <a:ext cx="959394" cy="21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1848">
                <a:tc>
                  <a:txBody>
                    <a:bodyPr/>
                    <a:lstStyle/>
                    <a:p>
                      <a:r>
                        <a:rPr lang="en-US" sz="800" dirty="0" err="1"/>
                        <a:t>Pr</a:t>
                      </a:r>
                      <a:r>
                        <a:rPr lang="sk-SK" sz="800" dirty="0" err="1"/>
                        <a:t>ší</a:t>
                      </a:r>
                      <a:r>
                        <a:rPr lang="sk-SK" sz="800" dirty="0"/>
                        <a:t>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uľka 31">
            <a:extLst>
              <a:ext uri="{FF2B5EF4-FFF2-40B4-BE49-F238E27FC236}">
                <a16:creationId xmlns:a16="http://schemas.microsoft.com/office/drawing/2014/main" id="{F628340C-0E71-18E7-9582-E052884F3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05322"/>
              </p:ext>
            </p:extLst>
          </p:nvPr>
        </p:nvGraphicFramePr>
        <p:xfrm>
          <a:off x="7706784" y="4227109"/>
          <a:ext cx="95939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 dirty="0" err="1"/>
                        <a:t>len</a:t>
                      </a:r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744">
                <a:tc>
                  <a:txBody>
                    <a:bodyPr/>
                    <a:lstStyle/>
                    <a:p>
                      <a:endParaRPr lang="sk-SK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8" name="Rovná spojovacia šípka 37">
            <a:extLst>
              <a:ext uri="{FF2B5EF4-FFF2-40B4-BE49-F238E27FC236}">
                <a16:creationId xmlns:a16="http://schemas.microsoft.com/office/drawing/2014/main" id="{20C4D444-8E0F-CD35-296A-8D36C1579ABE}"/>
              </a:ext>
            </a:extLst>
          </p:cNvPr>
          <p:cNvCxnSpPr>
            <a:cxnSpLocks/>
          </p:cNvCxnSpPr>
          <p:nvPr/>
        </p:nvCxnSpPr>
        <p:spPr>
          <a:xfrm>
            <a:off x="8149966" y="4576065"/>
            <a:ext cx="0" cy="299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Rovná spojovacia šípka 63">
            <a:extLst>
              <a:ext uri="{FF2B5EF4-FFF2-40B4-BE49-F238E27FC236}">
                <a16:creationId xmlns:a16="http://schemas.microsoft.com/office/drawing/2014/main" id="{EB782E2C-1947-2360-80B5-136ADE1BFECF}"/>
              </a:ext>
            </a:extLst>
          </p:cNvPr>
          <p:cNvCxnSpPr>
            <a:cxnSpLocks/>
          </p:cNvCxnSpPr>
          <p:nvPr/>
        </p:nvCxnSpPr>
        <p:spPr>
          <a:xfrm>
            <a:off x="2200117" y="2825492"/>
            <a:ext cx="325181" cy="357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59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Operácie na štruktúre </a:t>
            </a:r>
            <a:r>
              <a:rPr lang="sk-SK" dirty="0" err="1"/>
              <a:t>Linked</a:t>
            </a:r>
            <a:r>
              <a:rPr lang="sk-SK" dirty="0"/>
              <a:t> List</a:t>
            </a:r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6432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rgbClr val="00B0F0"/>
                </a:solidFill>
              </a:rPr>
              <a:t>Vytvorenie</a:t>
            </a:r>
          </a:p>
          <a:p>
            <a:r>
              <a:rPr lang="sk-SK" dirty="0">
                <a:solidFill>
                  <a:srgbClr val="00B0F0"/>
                </a:solidFill>
              </a:rPr>
              <a:t>Výpis štruktúry</a:t>
            </a:r>
          </a:p>
          <a:p>
            <a:r>
              <a:rPr lang="sk-SK" dirty="0">
                <a:solidFill>
                  <a:srgbClr val="00B0F0"/>
                </a:solidFill>
              </a:rPr>
              <a:t>Poskytnutie</a:t>
            </a:r>
            <a:r>
              <a:rPr lang="sk-SK" dirty="0"/>
              <a:t>/Zmena </a:t>
            </a:r>
            <a:r>
              <a:rPr lang="sk-SK" dirty="0">
                <a:solidFill>
                  <a:srgbClr val="00B0F0"/>
                </a:solidFill>
              </a:rPr>
              <a:t>hodnoty konkrétneho prvku </a:t>
            </a:r>
            <a:r>
              <a:rPr lang="sk-SK" dirty="0"/>
              <a:t>(</a:t>
            </a:r>
            <a:r>
              <a:rPr lang="sk-SK" dirty="0">
                <a:solidFill>
                  <a:srgbClr val="00B0F0"/>
                </a:solidFill>
              </a:rPr>
              <a:t>podľa indexu</a:t>
            </a:r>
            <a:r>
              <a:rPr lang="sk-SK" dirty="0"/>
              <a:t>/ukazovateľa)</a:t>
            </a:r>
            <a:endParaRPr lang="en-US" dirty="0"/>
          </a:p>
          <a:p>
            <a:r>
              <a:rPr lang="sk-SK" dirty="0">
                <a:solidFill>
                  <a:srgbClr val="00B0F0"/>
                </a:solidFill>
              </a:rPr>
              <a:t>Zistenie dĺžky zoznamu</a:t>
            </a:r>
          </a:p>
          <a:p>
            <a:r>
              <a:rPr lang="sk-SK" dirty="0">
                <a:solidFill>
                  <a:srgbClr val="00B0F0"/>
                </a:solidFill>
              </a:rPr>
              <a:t>Poskytnutie ukazovateľa podľa indexu</a:t>
            </a:r>
            <a:r>
              <a:rPr lang="sk-SK" dirty="0"/>
              <a:t>/hodnoty</a:t>
            </a:r>
          </a:p>
          <a:p>
            <a:r>
              <a:rPr lang="sk-SK" dirty="0">
                <a:solidFill>
                  <a:srgbClr val="FF0000"/>
                </a:solidFill>
              </a:rPr>
              <a:t>Poskytnutie indexu podľa ukazovateľa</a:t>
            </a:r>
            <a:r>
              <a:rPr lang="sk-SK" dirty="0"/>
              <a:t>/</a:t>
            </a:r>
            <a:r>
              <a:rPr lang="sk-SK" dirty="0">
                <a:solidFill>
                  <a:srgbClr val="00B0F0"/>
                </a:solidFill>
              </a:rPr>
              <a:t>hodnoty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//</a:t>
            </a:r>
            <a:r>
              <a:rPr lang="en-US" dirty="0" err="1">
                <a:solidFill>
                  <a:srgbClr val="00B0F0"/>
                </a:solidFill>
              </a:rPr>
              <a:t>list.index</a:t>
            </a:r>
            <a:r>
              <a:rPr lang="en-US" dirty="0">
                <a:solidFill>
                  <a:srgbClr val="00B0F0"/>
                </a:solidFill>
              </a:rPr>
              <a:t>(45)</a:t>
            </a:r>
            <a:endParaRPr lang="sk-SK" dirty="0">
              <a:solidFill>
                <a:srgbClr val="00B0F0"/>
              </a:solidFill>
            </a:endParaRPr>
          </a:p>
          <a:p>
            <a:r>
              <a:rPr lang="sk-SK" dirty="0">
                <a:solidFill>
                  <a:srgbClr val="00B0F0"/>
                </a:solidFill>
              </a:rPr>
              <a:t>Pridanie prvku </a:t>
            </a:r>
            <a:r>
              <a:rPr lang="sk-SK" dirty="0"/>
              <a:t>(</a:t>
            </a:r>
            <a:r>
              <a:rPr lang="sk-SK" dirty="0">
                <a:solidFill>
                  <a:srgbClr val="00B0F0"/>
                </a:solidFill>
              </a:rPr>
              <a:t>na koniec</a:t>
            </a:r>
            <a:r>
              <a:rPr lang="sk-SK" dirty="0"/>
              <a:t>, na začiatok</a:t>
            </a:r>
            <a:r>
              <a:rPr lang="sk-SK" dirty="0">
                <a:solidFill>
                  <a:srgbClr val="00B0F0"/>
                </a:solidFill>
              </a:rPr>
              <a:t>, podľa indexu</a:t>
            </a:r>
            <a:r>
              <a:rPr lang="sk-SK" dirty="0"/>
              <a:t>/podľa ukazovateľa - </a:t>
            </a:r>
            <a:r>
              <a:rPr lang="sk-SK" dirty="0">
                <a:solidFill>
                  <a:srgbClr val="00B0F0"/>
                </a:solidFill>
              </a:rPr>
              <a:t>za prvok</a:t>
            </a:r>
            <a:r>
              <a:rPr lang="sk-SK" dirty="0"/>
              <a:t>, pred prvok)</a:t>
            </a:r>
          </a:p>
          <a:p>
            <a:r>
              <a:rPr lang="sk-SK" dirty="0">
                <a:solidFill>
                  <a:srgbClr val="00B0F0"/>
                </a:solidFill>
              </a:rPr>
              <a:t>Odstránenie prvku </a:t>
            </a:r>
            <a:r>
              <a:rPr lang="sk-SK" dirty="0"/>
              <a:t>(podľa ukazovateľa/</a:t>
            </a:r>
            <a:r>
              <a:rPr lang="sk-SK" dirty="0">
                <a:solidFill>
                  <a:srgbClr val="00B0F0"/>
                </a:solidFill>
              </a:rPr>
              <a:t>indexu</a:t>
            </a:r>
            <a:r>
              <a:rPr lang="sk-SK" dirty="0"/>
              <a:t>/hodnoty)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06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8944B0-ADAD-4D2C-8327-75E3D704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Zadanie List a </a:t>
            </a:r>
            <a:r>
              <a:rPr lang="sk-SK" dirty="0" err="1"/>
              <a:t>Tree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60BEDE3-20CE-4C1B-AAB8-B39FF78CD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Doprogramujte metódy štruktúry </a:t>
            </a:r>
            <a:r>
              <a:rPr lang="sk-SK" dirty="0" err="1"/>
              <a:t>LinkedList</a:t>
            </a:r>
            <a:r>
              <a:rPr lang="sk-SK" dirty="0"/>
              <a:t> z predošlej snímky</a:t>
            </a:r>
          </a:p>
          <a:p>
            <a:r>
              <a:rPr lang="sk-SK" dirty="0"/>
              <a:t>Pripojte Váš </a:t>
            </a:r>
            <a:r>
              <a:rPr lang="sk-SK" dirty="0" err="1"/>
              <a:t>LinkedList</a:t>
            </a:r>
            <a:r>
              <a:rPr lang="sk-SK" dirty="0"/>
              <a:t> k aplikácii </a:t>
            </a:r>
            <a:r>
              <a:rPr lang="sk-SK" dirty="0" err="1"/>
              <a:t>Karaoke</a:t>
            </a:r>
            <a:r>
              <a:rPr lang="sk-SK" dirty="0"/>
              <a:t> a použite ho tam</a:t>
            </a:r>
          </a:p>
          <a:p>
            <a:r>
              <a:rPr lang="sk-SK" dirty="0"/>
              <a:t>Naprogramujte </a:t>
            </a:r>
            <a:r>
              <a:rPr lang="sk-SK" dirty="0" err="1"/>
              <a:t>TreeSort</a:t>
            </a:r>
            <a:r>
              <a:rPr lang="sk-SK" dirty="0"/>
              <a:t> a pripojte ho do </a:t>
            </a:r>
            <a:r>
              <a:rPr lang="en-US" dirty="0" err="1"/>
              <a:t>projektu</a:t>
            </a:r>
            <a:r>
              <a:rPr lang="sk-SK" dirty="0"/>
              <a:t> Analýza </a:t>
            </a:r>
            <a:r>
              <a:rPr lang="sk-SK" dirty="0" err="1"/>
              <a:t>Search</a:t>
            </a:r>
            <a:r>
              <a:rPr lang="sk-SK" dirty="0"/>
              <a:t> a Sort. Zistite časy pre 10000 dát </a:t>
            </a:r>
            <a:r>
              <a:rPr lang="en-US" dirty="0"/>
              <a:t>10</a:t>
            </a:r>
            <a:r>
              <a:rPr lang="sk-SK" dirty="0"/>
              <a:t>x a </a:t>
            </a:r>
            <a:r>
              <a:rPr lang="en-US" dirty="0"/>
              <a:t>2</a:t>
            </a:r>
            <a:r>
              <a:rPr lang="sk-SK" dirty="0"/>
              <a:t>0000 dát </a:t>
            </a:r>
            <a:r>
              <a:rPr lang="en-US" dirty="0"/>
              <a:t>10</a:t>
            </a:r>
            <a:r>
              <a:rPr lang="sk-SK" dirty="0"/>
              <a:t>x, to isté pre čiastočne usporiadané </a:t>
            </a:r>
            <a:r>
              <a:rPr lang="sk-SK" dirty="0" err="1"/>
              <a:t>data</a:t>
            </a:r>
            <a:r>
              <a:rPr lang="sk-SK" dirty="0"/>
              <a:t> a doplňte riadky do excelovskej analýzy.</a:t>
            </a:r>
          </a:p>
          <a:p>
            <a:r>
              <a:rPr lang="sk-SK" dirty="0"/>
              <a:t>Termín odovzdania </a:t>
            </a:r>
            <a:r>
              <a:rPr lang="en-US" dirty="0"/>
              <a:t>23</a:t>
            </a:r>
            <a:r>
              <a:rPr lang="sk-SK" dirty="0"/>
              <a:t>.1.202</a:t>
            </a:r>
            <a:r>
              <a:rPr lang="en-US" dirty="0"/>
              <a:t>5</a:t>
            </a:r>
            <a:r>
              <a:rPr lang="sk-SK" dirty="0"/>
              <a:t> 23:59:59</a:t>
            </a:r>
          </a:p>
        </p:txBody>
      </p:sp>
    </p:spTree>
    <p:extLst>
      <p:ext uri="{BB962C8B-B14F-4D97-AF65-F5344CB8AC3E}">
        <p14:creationId xmlns:p14="http://schemas.microsoft.com/office/powerpoint/2010/main" val="276150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24CD8F-CCC8-CA4F-C4A1-96CE9C35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pou</a:t>
            </a:r>
            <a:r>
              <a:rPr lang="sk-SK" dirty="0" err="1"/>
              <a:t>žíva</a:t>
            </a:r>
            <a:r>
              <a:rPr lang="sk-SK" dirty="0"/>
              <a:t> FIFO a LIFO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B362113-36C3-E847-4092-E9A5F6A95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LIFO – vždy staticky, nepoužíva sa vo formáte </a:t>
            </a:r>
            <a:r>
              <a:rPr lang="sk-SK" dirty="0" err="1"/>
              <a:t>Linked</a:t>
            </a:r>
            <a:r>
              <a:rPr lang="sk-SK" dirty="0"/>
              <a:t> List</a:t>
            </a:r>
          </a:p>
          <a:p>
            <a:r>
              <a:rPr lang="sk-SK" dirty="0"/>
              <a:t>FIFO – keď sa dá, tak sa používa dynamicky, keď sa nedá, staticky cyklicky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30255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C4CD6A-282D-4FE2-9287-7102EFA7B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Stromy </a:t>
            </a:r>
            <a:r>
              <a:rPr lang="en-US" dirty="0"/>
              <a:t>(</a:t>
            </a:r>
            <a:r>
              <a:rPr lang="sk-SK" dirty="0" err="1"/>
              <a:t>Trees</a:t>
            </a:r>
            <a:r>
              <a:rPr lang="en-US" dirty="0"/>
              <a:t>)</a:t>
            </a:r>
            <a:endParaRPr lang="sk-SK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63AA483-F1A7-4F40-92FA-BE2F1A6BC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75679"/>
          </a:xfrm>
        </p:spPr>
        <p:txBody>
          <a:bodyPr/>
          <a:lstStyle/>
          <a:p>
            <a:r>
              <a:rPr lang="sk-SK" dirty="0"/>
              <a:t>Zreťazené dátové štruktúry</a:t>
            </a:r>
          </a:p>
        </p:txBody>
      </p:sp>
    </p:spTree>
    <p:extLst>
      <p:ext uri="{BB962C8B-B14F-4D97-AF65-F5344CB8AC3E}">
        <p14:creationId xmlns:p14="http://schemas.microsoft.com/office/powerpoint/2010/main" val="4180458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D6A4BA-05BC-402F-B44F-011C5CC9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Typy</a:t>
            </a:r>
            <a:r>
              <a:rPr lang="en-US" dirty="0"/>
              <a:t> </a:t>
            </a:r>
            <a:r>
              <a:rPr lang="en-US" dirty="0" err="1"/>
              <a:t>stromov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4CF2054-2F90-4B71-8796-58FC2AF58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77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k-SK" dirty="0"/>
              <a:t>	      </a:t>
            </a:r>
            <a:r>
              <a:rPr lang="en-US" dirty="0"/>
              <a:t>V</a:t>
            </a:r>
            <a:r>
              <a:rPr lang="sk-SK" dirty="0" err="1"/>
              <a:t>šeobecný</a:t>
            </a:r>
            <a:r>
              <a:rPr lang="sk-SK" dirty="0"/>
              <a:t>					     Binárny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F3E143CA-AE4B-413B-94E3-FBB4D2DC2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9" y="3060584"/>
            <a:ext cx="6727971" cy="3048000"/>
          </a:xfrm>
          <a:prstGeom prst="rect">
            <a:avLst/>
          </a:prstGeom>
        </p:spPr>
      </p:pic>
      <p:pic>
        <p:nvPicPr>
          <p:cNvPr id="1028" name="Picture 4" descr="Binary tree - Wikipedia">
            <a:extLst>
              <a:ext uri="{FF2B5EF4-FFF2-40B4-BE49-F238E27FC236}">
                <a16:creationId xmlns:a16="http://schemas.microsoft.com/office/drawing/2014/main" id="{DB66B120-4BAB-487C-8AD9-74FDD8D4B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295" y="2780135"/>
            <a:ext cx="4330677" cy="360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0970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D10260-379D-EE43-C773-C3AA4FBA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2508265" cy="1325563"/>
          </a:xfrm>
        </p:spPr>
        <p:txBody>
          <a:bodyPr/>
          <a:lstStyle/>
          <a:p>
            <a:r>
              <a:rPr lang="en-US" dirty="0"/>
              <a:t>Tree Sort</a:t>
            </a:r>
            <a:endParaRPr lang="sk-SK" dirty="0"/>
          </a:p>
        </p:txBody>
      </p:sp>
      <p:sp>
        <p:nvSpPr>
          <p:cNvPr id="4" name="Ovál 3">
            <a:extLst>
              <a:ext uri="{FF2B5EF4-FFF2-40B4-BE49-F238E27FC236}">
                <a16:creationId xmlns:a16="http://schemas.microsoft.com/office/drawing/2014/main" id="{0E78F410-0C31-8AF2-D179-8091D4E888A1}"/>
              </a:ext>
            </a:extLst>
          </p:cNvPr>
          <p:cNvSpPr/>
          <p:nvPr/>
        </p:nvSpPr>
        <p:spPr>
          <a:xfrm>
            <a:off x="4994694" y="1475117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</a:t>
            </a:r>
            <a:endParaRPr lang="sk-SK" dirty="0">
              <a:solidFill>
                <a:schemeClr val="tx1"/>
              </a:solidFill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C3CA8ED0-8FE6-943F-F640-3754AB34F664}"/>
              </a:ext>
            </a:extLst>
          </p:cNvPr>
          <p:cNvSpPr txBox="1"/>
          <p:nvPr/>
        </p:nvSpPr>
        <p:spPr>
          <a:xfrm>
            <a:off x="4462014" y="545183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root</a:t>
            </a:r>
            <a:endParaRPr lang="sk-SK" dirty="0"/>
          </a:p>
        </p:txBody>
      </p: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B0C177BE-40AF-58D8-B00E-F718C0499B41}"/>
              </a:ext>
            </a:extLst>
          </p:cNvPr>
          <p:cNvCxnSpPr>
            <a:cxnSpLocks/>
          </p:cNvCxnSpPr>
          <p:nvPr/>
        </p:nvCxnSpPr>
        <p:spPr>
          <a:xfrm>
            <a:off x="4624424" y="908668"/>
            <a:ext cx="554579" cy="56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dĺžnik 8">
            <a:extLst>
              <a:ext uri="{FF2B5EF4-FFF2-40B4-BE49-F238E27FC236}">
                <a16:creationId xmlns:a16="http://schemas.microsoft.com/office/drawing/2014/main" id="{19AF8593-0087-5B16-847D-7036AD350368}"/>
              </a:ext>
            </a:extLst>
          </p:cNvPr>
          <p:cNvSpPr/>
          <p:nvPr/>
        </p:nvSpPr>
        <p:spPr>
          <a:xfrm>
            <a:off x="4329229" y="473211"/>
            <a:ext cx="2035834" cy="5448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05155C19-409F-BAD3-A1BB-2935FA939F94}"/>
              </a:ext>
            </a:extLst>
          </p:cNvPr>
          <p:cNvSpPr txBox="1"/>
          <p:nvPr/>
        </p:nvSpPr>
        <p:spPr>
          <a:xfrm>
            <a:off x="3146659" y="310581"/>
            <a:ext cx="87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myTree</a:t>
            </a:r>
            <a:endParaRPr lang="sk-SK" dirty="0"/>
          </a:p>
        </p:txBody>
      </p:sp>
      <p:cxnSp>
        <p:nvCxnSpPr>
          <p:cNvPr id="12" name="Rovná spojovacia šípka 11">
            <a:extLst>
              <a:ext uri="{FF2B5EF4-FFF2-40B4-BE49-F238E27FC236}">
                <a16:creationId xmlns:a16="http://schemas.microsoft.com/office/drawing/2014/main" id="{DE03C8A4-AC19-24D4-6253-FB688847D4A8}"/>
              </a:ext>
            </a:extLst>
          </p:cNvPr>
          <p:cNvCxnSpPr>
            <a:cxnSpLocks/>
          </p:cNvCxnSpPr>
          <p:nvPr/>
        </p:nvCxnSpPr>
        <p:spPr>
          <a:xfrm>
            <a:off x="3962022" y="532810"/>
            <a:ext cx="24953" cy="269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ovná spojovacia šípka 15">
            <a:extLst>
              <a:ext uri="{FF2B5EF4-FFF2-40B4-BE49-F238E27FC236}">
                <a16:creationId xmlns:a16="http://schemas.microsoft.com/office/drawing/2014/main" id="{F5D62A2A-651B-85AF-88DE-DCF28894A63E}"/>
              </a:ext>
            </a:extLst>
          </p:cNvPr>
          <p:cNvCxnSpPr>
            <a:cxnSpLocks/>
          </p:cNvCxnSpPr>
          <p:nvPr/>
        </p:nvCxnSpPr>
        <p:spPr>
          <a:xfrm flipH="1">
            <a:off x="4170872" y="2211111"/>
            <a:ext cx="966360" cy="635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ovná spojovacia šípka 16">
            <a:extLst>
              <a:ext uri="{FF2B5EF4-FFF2-40B4-BE49-F238E27FC236}">
                <a16:creationId xmlns:a16="http://schemas.microsoft.com/office/drawing/2014/main" id="{34966CB3-313F-ECB4-8028-D12B26F8ECA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797268" y="2135361"/>
            <a:ext cx="1362451" cy="632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ál 23">
            <a:extLst>
              <a:ext uri="{FF2B5EF4-FFF2-40B4-BE49-F238E27FC236}">
                <a16:creationId xmlns:a16="http://schemas.microsoft.com/office/drawing/2014/main" id="{D0834F45-1A3C-B513-5296-81037C56E4CA}"/>
              </a:ext>
            </a:extLst>
          </p:cNvPr>
          <p:cNvSpPr/>
          <p:nvPr/>
        </p:nvSpPr>
        <p:spPr>
          <a:xfrm>
            <a:off x="3256472" y="2670568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sk-SK" dirty="0">
              <a:solidFill>
                <a:schemeClr val="tx1"/>
              </a:solidFill>
            </a:endParaRPr>
          </a:p>
        </p:txBody>
      </p:sp>
      <p:cxnSp>
        <p:nvCxnSpPr>
          <p:cNvPr id="25" name="Rovná spojovacia šípka 24">
            <a:extLst>
              <a:ext uri="{FF2B5EF4-FFF2-40B4-BE49-F238E27FC236}">
                <a16:creationId xmlns:a16="http://schemas.microsoft.com/office/drawing/2014/main" id="{91301A0E-B620-4DE7-033C-6C6853508B90}"/>
              </a:ext>
            </a:extLst>
          </p:cNvPr>
          <p:cNvCxnSpPr>
            <a:cxnSpLocks/>
            <a:endCxn id="37" idx="7"/>
          </p:cNvCxnSpPr>
          <p:nvPr/>
        </p:nvCxnSpPr>
        <p:spPr>
          <a:xfrm flipH="1">
            <a:off x="2489957" y="3272159"/>
            <a:ext cx="792471" cy="759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ovná spojovacia šípka 25">
            <a:extLst>
              <a:ext uri="{FF2B5EF4-FFF2-40B4-BE49-F238E27FC236}">
                <a16:creationId xmlns:a16="http://schemas.microsoft.com/office/drawing/2014/main" id="{69E0FC51-2328-9281-4B41-893573BA827C}"/>
              </a:ext>
            </a:extLst>
          </p:cNvPr>
          <p:cNvCxnSpPr>
            <a:cxnSpLocks/>
          </p:cNvCxnSpPr>
          <p:nvPr/>
        </p:nvCxnSpPr>
        <p:spPr>
          <a:xfrm>
            <a:off x="4149306" y="3305983"/>
            <a:ext cx="489528" cy="697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ál 26">
            <a:extLst>
              <a:ext uri="{FF2B5EF4-FFF2-40B4-BE49-F238E27FC236}">
                <a16:creationId xmlns:a16="http://schemas.microsoft.com/office/drawing/2014/main" id="{98941388-3E0F-76B6-0AF6-33990BEA28A1}"/>
              </a:ext>
            </a:extLst>
          </p:cNvPr>
          <p:cNvSpPr/>
          <p:nvPr/>
        </p:nvSpPr>
        <p:spPr>
          <a:xfrm>
            <a:off x="7025808" y="2633718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  <a:endParaRPr lang="sk-SK" dirty="0">
              <a:solidFill>
                <a:schemeClr val="tx1"/>
              </a:solidFill>
            </a:endParaRPr>
          </a:p>
        </p:txBody>
      </p:sp>
      <p:cxnSp>
        <p:nvCxnSpPr>
          <p:cNvPr id="29" name="Rovná spojovacia šípka 28">
            <a:extLst>
              <a:ext uri="{FF2B5EF4-FFF2-40B4-BE49-F238E27FC236}">
                <a16:creationId xmlns:a16="http://schemas.microsoft.com/office/drawing/2014/main" id="{9D9784D6-887A-8B60-3FA9-BA02EFC684C1}"/>
              </a:ext>
            </a:extLst>
          </p:cNvPr>
          <p:cNvCxnSpPr>
            <a:cxnSpLocks/>
          </p:cNvCxnSpPr>
          <p:nvPr/>
        </p:nvCxnSpPr>
        <p:spPr>
          <a:xfrm flipH="1">
            <a:off x="6843057" y="3346175"/>
            <a:ext cx="289554" cy="551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ovná spojovacia šípka 29">
            <a:extLst>
              <a:ext uri="{FF2B5EF4-FFF2-40B4-BE49-F238E27FC236}">
                <a16:creationId xmlns:a16="http://schemas.microsoft.com/office/drawing/2014/main" id="{B3F738D4-D887-97CE-50BC-50D51A21205C}"/>
              </a:ext>
            </a:extLst>
          </p:cNvPr>
          <p:cNvCxnSpPr>
            <a:cxnSpLocks/>
          </p:cNvCxnSpPr>
          <p:nvPr/>
        </p:nvCxnSpPr>
        <p:spPr>
          <a:xfrm>
            <a:off x="7791171" y="3351853"/>
            <a:ext cx="0" cy="609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ál 31">
            <a:extLst>
              <a:ext uri="{FF2B5EF4-FFF2-40B4-BE49-F238E27FC236}">
                <a16:creationId xmlns:a16="http://schemas.microsoft.com/office/drawing/2014/main" id="{BC7F04A2-6751-BB40-8568-2D01CAEB7F51}"/>
              </a:ext>
            </a:extLst>
          </p:cNvPr>
          <p:cNvSpPr/>
          <p:nvPr/>
        </p:nvSpPr>
        <p:spPr>
          <a:xfrm>
            <a:off x="4354283" y="396103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18</a:t>
            </a:r>
            <a:endParaRPr lang="sk-SK" dirty="0">
              <a:solidFill>
                <a:schemeClr val="tx1"/>
              </a:solidFill>
            </a:endParaRPr>
          </a:p>
        </p:txBody>
      </p:sp>
      <p:cxnSp>
        <p:nvCxnSpPr>
          <p:cNvPr id="33" name="Rovná spojovacia šípka 32">
            <a:extLst>
              <a:ext uri="{FF2B5EF4-FFF2-40B4-BE49-F238E27FC236}">
                <a16:creationId xmlns:a16="http://schemas.microsoft.com/office/drawing/2014/main" id="{C8B2B4E1-07BC-31DD-F6A7-C7BE6ED1EF11}"/>
              </a:ext>
            </a:extLst>
          </p:cNvPr>
          <p:cNvCxnSpPr>
            <a:cxnSpLocks/>
          </p:cNvCxnSpPr>
          <p:nvPr/>
        </p:nvCxnSpPr>
        <p:spPr>
          <a:xfrm flipH="1">
            <a:off x="4149306" y="4679777"/>
            <a:ext cx="288985" cy="61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ovná spojovacia šípka 33">
            <a:extLst>
              <a:ext uri="{FF2B5EF4-FFF2-40B4-BE49-F238E27FC236}">
                <a16:creationId xmlns:a16="http://schemas.microsoft.com/office/drawing/2014/main" id="{C50B180C-84EF-DD02-604E-6EF07F9905E9}"/>
              </a:ext>
            </a:extLst>
          </p:cNvPr>
          <p:cNvCxnSpPr>
            <a:cxnSpLocks/>
          </p:cNvCxnSpPr>
          <p:nvPr/>
        </p:nvCxnSpPr>
        <p:spPr>
          <a:xfrm>
            <a:off x="5179003" y="4649510"/>
            <a:ext cx="0" cy="625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ál 34">
            <a:extLst>
              <a:ext uri="{FF2B5EF4-FFF2-40B4-BE49-F238E27FC236}">
                <a16:creationId xmlns:a16="http://schemas.microsoft.com/office/drawing/2014/main" id="{E66857F3-0239-2F13-282F-B95AC5D40C6A}"/>
              </a:ext>
            </a:extLst>
          </p:cNvPr>
          <p:cNvSpPr/>
          <p:nvPr/>
        </p:nvSpPr>
        <p:spPr>
          <a:xfrm>
            <a:off x="3564250" y="5293774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15</a:t>
            </a:r>
            <a:endParaRPr lang="sk-SK" dirty="0">
              <a:solidFill>
                <a:schemeClr val="tx1"/>
              </a:solidFill>
            </a:endParaRPr>
          </a:p>
        </p:txBody>
      </p:sp>
      <p:sp>
        <p:nvSpPr>
          <p:cNvPr id="37" name="Ovál 36">
            <a:extLst>
              <a:ext uri="{FF2B5EF4-FFF2-40B4-BE49-F238E27FC236}">
                <a16:creationId xmlns:a16="http://schemas.microsoft.com/office/drawing/2014/main" id="{B6A3301F-0002-44EC-D1C2-3E7250D47D7C}"/>
              </a:ext>
            </a:extLst>
          </p:cNvPr>
          <p:cNvSpPr/>
          <p:nvPr/>
        </p:nvSpPr>
        <p:spPr>
          <a:xfrm>
            <a:off x="1709468" y="389777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sk-SK" dirty="0">
              <a:solidFill>
                <a:schemeClr val="tx1"/>
              </a:solidFill>
            </a:endParaRPr>
          </a:p>
        </p:txBody>
      </p:sp>
      <p:sp>
        <p:nvSpPr>
          <p:cNvPr id="39" name="Ovál 38">
            <a:extLst>
              <a:ext uri="{FF2B5EF4-FFF2-40B4-BE49-F238E27FC236}">
                <a16:creationId xmlns:a16="http://schemas.microsoft.com/office/drawing/2014/main" id="{5DAB50FD-687F-A0EA-C866-DAC9CDC4C8BA}"/>
              </a:ext>
            </a:extLst>
          </p:cNvPr>
          <p:cNvSpPr/>
          <p:nvPr/>
        </p:nvSpPr>
        <p:spPr>
          <a:xfrm>
            <a:off x="6196643" y="3946116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25</a:t>
            </a:r>
            <a:endParaRPr lang="sk-SK" dirty="0">
              <a:solidFill>
                <a:schemeClr val="tx1"/>
              </a:solidFill>
            </a:endParaRPr>
          </a:p>
        </p:txBody>
      </p:sp>
      <p:cxnSp>
        <p:nvCxnSpPr>
          <p:cNvPr id="41" name="Rovná spojovacia šípka 40">
            <a:extLst>
              <a:ext uri="{FF2B5EF4-FFF2-40B4-BE49-F238E27FC236}">
                <a16:creationId xmlns:a16="http://schemas.microsoft.com/office/drawing/2014/main" id="{E96104E8-6F89-B19E-14D0-983F6C9DEB0D}"/>
              </a:ext>
            </a:extLst>
          </p:cNvPr>
          <p:cNvCxnSpPr>
            <a:cxnSpLocks/>
          </p:cNvCxnSpPr>
          <p:nvPr/>
        </p:nvCxnSpPr>
        <p:spPr>
          <a:xfrm>
            <a:off x="1877414" y="4783293"/>
            <a:ext cx="0" cy="491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ovná spojovacia šípka 41">
            <a:extLst>
              <a:ext uri="{FF2B5EF4-FFF2-40B4-BE49-F238E27FC236}">
                <a16:creationId xmlns:a16="http://schemas.microsoft.com/office/drawing/2014/main" id="{951C1B0F-C91D-57AE-615E-559DD334D3EB}"/>
              </a:ext>
            </a:extLst>
          </p:cNvPr>
          <p:cNvCxnSpPr>
            <a:cxnSpLocks/>
          </p:cNvCxnSpPr>
          <p:nvPr/>
        </p:nvCxnSpPr>
        <p:spPr>
          <a:xfrm>
            <a:off x="2482702" y="4723963"/>
            <a:ext cx="0" cy="55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ovná spojovacia šípka 44">
            <a:extLst>
              <a:ext uri="{FF2B5EF4-FFF2-40B4-BE49-F238E27FC236}">
                <a16:creationId xmlns:a16="http://schemas.microsoft.com/office/drawing/2014/main" id="{7F49C9C7-4AAA-B6E2-9078-AABA5A0CE044}"/>
              </a:ext>
            </a:extLst>
          </p:cNvPr>
          <p:cNvCxnSpPr>
            <a:cxnSpLocks/>
          </p:cNvCxnSpPr>
          <p:nvPr/>
        </p:nvCxnSpPr>
        <p:spPr>
          <a:xfrm>
            <a:off x="6318581" y="4723963"/>
            <a:ext cx="0" cy="55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ovná spojovacia šípka 45">
            <a:extLst>
              <a:ext uri="{FF2B5EF4-FFF2-40B4-BE49-F238E27FC236}">
                <a16:creationId xmlns:a16="http://schemas.microsoft.com/office/drawing/2014/main" id="{1E2BAAA9-C2E0-8FD6-AECC-CF507A2F586A}"/>
              </a:ext>
            </a:extLst>
          </p:cNvPr>
          <p:cNvCxnSpPr>
            <a:cxnSpLocks/>
          </p:cNvCxnSpPr>
          <p:nvPr/>
        </p:nvCxnSpPr>
        <p:spPr>
          <a:xfrm>
            <a:off x="6964844" y="4723963"/>
            <a:ext cx="0" cy="55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ovná spojovacia šípka 66">
            <a:extLst>
              <a:ext uri="{FF2B5EF4-FFF2-40B4-BE49-F238E27FC236}">
                <a16:creationId xmlns:a16="http://schemas.microsoft.com/office/drawing/2014/main" id="{60B136C1-CBB1-6C46-2E80-2234F5F05974}"/>
              </a:ext>
            </a:extLst>
          </p:cNvPr>
          <p:cNvCxnSpPr>
            <a:cxnSpLocks/>
          </p:cNvCxnSpPr>
          <p:nvPr/>
        </p:nvCxnSpPr>
        <p:spPr>
          <a:xfrm>
            <a:off x="4396736" y="6072559"/>
            <a:ext cx="0" cy="55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ovná spojovacia šípka 67">
            <a:extLst>
              <a:ext uri="{FF2B5EF4-FFF2-40B4-BE49-F238E27FC236}">
                <a16:creationId xmlns:a16="http://schemas.microsoft.com/office/drawing/2014/main" id="{456C383A-C64D-0DA4-D091-6B87D1A5540F}"/>
              </a:ext>
            </a:extLst>
          </p:cNvPr>
          <p:cNvCxnSpPr>
            <a:cxnSpLocks/>
          </p:cNvCxnSpPr>
          <p:nvPr/>
        </p:nvCxnSpPr>
        <p:spPr>
          <a:xfrm>
            <a:off x="3611103" y="6072559"/>
            <a:ext cx="0" cy="55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92C4D9-6D33-4D07-B7C5-873897D0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Použitie štruktúry </a:t>
            </a:r>
            <a:r>
              <a:rPr lang="sk-SK" dirty="0" err="1"/>
              <a:t>Tree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417D7DF-577F-49DC-984E-3F4EB246A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95373"/>
          </a:xfrm>
        </p:spPr>
        <p:txBody>
          <a:bodyPr>
            <a:normAutofit/>
          </a:bodyPr>
          <a:lstStyle/>
          <a:p>
            <a:r>
              <a:rPr lang="sk-SK" dirty="0"/>
              <a:t>Algoritmy kategórie Rozdeľuj a Panuj (nerekurzívne </a:t>
            </a:r>
            <a:r>
              <a:rPr lang="sk-SK" dirty="0" err="1"/>
              <a:t>Merge</a:t>
            </a:r>
            <a:r>
              <a:rPr lang="sk-SK" dirty="0"/>
              <a:t> sort a </a:t>
            </a:r>
            <a:r>
              <a:rPr lang="sk-SK" dirty="0" err="1"/>
              <a:t>Quick</a:t>
            </a:r>
            <a:r>
              <a:rPr lang="sk-SK" dirty="0"/>
              <a:t> sort, </a:t>
            </a:r>
            <a:r>
              <a:rPr lang="sk-SK" dirty="0" err="1"/>
              <a:t>Tree</a:t>
            </a:r>
            <a:r>
              <a:rPr lang="sk-SK" dirty="0"/>
              <a:t> sort, </a:t>
            </a:r>
            <a:r>
              <a:rPr lang="sk-SK" dirty="0" err="1"/>
              <a:t>Heap</a:t>
            </a:r>
            <a:r>
              <a:rPr lang="sk-SK" dirty="0"/>
              <a:t> sort)</a:t>
            </a:r>
          </a:p>
          <a:p>
            <a:r>
              <a:rPr lang="sk-SK" dirty="0"/>
              <a:t>Optimalizačné algoritmy </a:t>
            </a:r>
          </a:p>
          <a:p>
            <a:pPr marL="0" indent="0">
              <a:buNone/>
            </a:pPr>
            <a:r>
              <a:rPr lang="sk-SK" dirty="0"/>
              <a:t>	(Metóda vetví a hraníc – napr. stratégie logických hier)</a:t>
            </a:r>
          </a:p>
          <a:p>
            <a:r>
              <a:rPr lang="sk-SK" dirty="0"/>
              <a:t>Teória grafov (reprezentácie kostry grafu – napr. stavba potrubí)</a:t>
            </a:r>
          </a:p>
        </p:txBody>
      </p:sp>
    </p:spTree>
    <p:extLst>
      <p:ext uri="{BB962C8B-B14F-4D97-AF65-F5344CB8AC3E}">
        <p14:creationId xmlns:p14="http://schemas.microsoft.com/office/powerpoint/2010/main" val="11786838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16763</TotalTime>
  <Words>635</Words>
  <Application>Microsoft Office PowerPoint</Application>
  <PresentationFormat>Širokouhlá</PresentationFormat>
  <Paragraphs>94</Paragraphs>
  <Slides>12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Motív Office</vt:lpstr>
      <vt:lpstr>Linked List  (zreťazený zoznam)</vt:lpstr>
      <vt:lpstr>Aký je rozdiel medzi int, double, boolean, ... a medzi Integer, Double, Boolean, ...</vt:lpstr>
      <vt:lpstr>Arrays vs. Linked List</vt:lpstr>
      <vt:lpstr>Arrays vs. Linked List</vt:lpstr>
      <vt:lpstr>Dynamické FIFO</vt:lpstr>
      <vt:lpstr>Operácie na štruktúre Linked List</vt:lpstr>
      <vt:lpstr>Zadanie List a Tree</vt:lpstr>
      <vt:lpstr>Ako sa používa FIFO a LIFO</vt:lpstr>
      <vt:lpstr>Stromy (Trees)</vt:lpstr>
      <vt:lpstr>Typy stromov</vt:lpstr>
      <vt:lpstr>Tree Sort</vt:lpstr>
      <vt:lpstr>Použitie štruktúry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 (zreťazený zoznam)</dc:title>
  <dc:creator>mail@itp.sk</dc:creator>
  <cp:lastModifiedBy>Peter Vargovčík</cp:lastModifiedBy>
  <cp:revision>45</cp:revision>
  <dcterms:created xsi:type="dcterms:W3CDTF">2020-11-18T09:12:35Z</dcterms:created>
  <dcterms:modified xsi:type="dcterms:W3CDTF">2025-01-15T11:47:24Z</dcterms:modified>
</cp:coreProperties>
</file>